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3" r:id="rId3"/>
    <p:sldId id="263" r:id="rId5"/>
    <p:sldId id="287" r:id="rId6"/>
  </p:sldIdLst>
  <p:sldSz cx="9001125" cy="5039995"/>
  <p:notesSz cx="6858000" cy="9144000"/>
  <p:custDataLst>
    <p:tags r:id="rId10"/>
  </p:custDataLst>
  <p:defaultTextStyle>
    <a:defPPr>
      <a:defRPr lang="zh-CN"/>
    </a:defPPr>
    <a:lvl1pPr marL="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32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00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32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64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965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65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797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290" algn="l" defTabSz="80200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0" userDrawn="1">
          <p15:clr>
            <a:srgbClr val="A4A3A4"/>
          </p15:clr>
        </p15:guide>
        <p15:guide id="2" pos="2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4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1" autoAdjust="0"/>
    <p:restoredTop sz="94714" autoAdjust="0"/>
  </p:normalViewPr>
  <p:slideViewPr>
    <p:cSldViewPr>
      <p:cViewPr varScale="1">
        <p:scale>
          <a:sx n="144" d="100"/>
          <a:sy n="144" d="100"/>
        </p:scale>
        <p:origin x="1098" y="108"/>
      </p:cViewPr>
      <p:guideLst>
        <p:guide orient="horz" pos="1610"/>
        <p:guide pos="2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47A7D-17EB-46D6-810B-AD9728A5A1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818C6-2C9E-4DD0-9709-91C8809856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818C6-2C9E-4DD0-9709-91C880985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818C6-2C9E-4DD0-9709-91C880985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7818C6-2C9E-4DD0-9709-91C8809856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85" y="1565764"/>
            <a:ext cx="7650956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2856177"/>
            <a:ext cx="6300788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027" y="3238868"/>
            <a:ext cx="7650956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1027" y="2136300"/>
            <a:ext cx="7650956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6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9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797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2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0056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572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28237"/>
            <a:ext cx="3977060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056" y="1598433"/>
            <a:ext cx="3977060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2447" y="1128237"/>
            <a:ext cx="3978622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320" indent="0">
              <a:buNone/>
              <a:defRPr sz="1800" b="1"/>
            </a:lvl2pPr>
            <a:lvl3pPr marL="802005" indent="0">
              <a:buNone/>
              <a:defRPr sz="1600" b="1"/>
            </a:lvl3pPr>
            <a:lvl4pPr marL="1203325" indent="0">
              <a:buNone/>
              <a:defRPr sz="1400" b="1"/>
            </a:lvl4pPr>
            <a:lvl5pPr marL="1604645" indent="0">
              <a:buNone/>
              <a:defRPr sz="1400" b="1"/>
            </a:lvl5pPr>
            <a:lvl6pPr marL="2005965" indent="0">
              <a:buNone/>
              <a:defRPr sz="1400" b="1"/>
            </a:lvl6pPr>
            <a:lvl7pPr marL="2406650" indent="0">
              <a:buNone/>
              <a:defRPr sz="1400" b="1"/>
            </a:lvl7pPr>
            <a:lvl8pPr marL="2807970" indent="0">
              <a:buNone/>
              <a:defRPr sz="1400" b="1"/>
            </a:lvl8pPr>
            <a:lvl9pPr marL="3209290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447" y="1598433"/>
            <a:ext cx="3978622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7" y="200679"/>
            <a:ext cx="2961308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9190" y="200679"/>
            <a:ext cx="5031879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0057" y="1054733"/>
            <a:ext cx="2961308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4284" y="3528219"/>
            <a:ext cx="5400675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4284" y="450361"/>
            <a:ext cx="5400675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320" indent="0">
              <a:buNone/>
              <a:defRPr sz="2500"/>
            </a:lvl2pPr>
            <a:lvl3pPr marL="802005" indent="0">
              <a:buNone/>
              <a:defRPr sz="2100"/>
            </a:lvl3pPr>
            <a:lvl4pPr marL="1203325" indent="0">
              <a:buNone/>
              <a:defRPr sz="1800"/>
            </a:lvl4pPr>
            <a:lvl5pPr marL="1604645" indent="0">
              <a:buNone/>
              <a:defRPr sz="1800"/>
            </a:lvl5pPr>
            <a:lvl6pPr marL="2005965" indent="0">
              <a:buNone/>
              <a:defRPr sz="1800"/>
            </a:lvl6pPr>
            <a:lvl7pPr marL="2406650" indent="0">
              <a:buNone/>
              <a:defRPr sz="1800"/>
            </a:lvl7pPr>
            <a:lvl8pPr marL="2807970" indent="0">
              <a:buNone/>
              <a:defRPr sz="1800"/>
            </a:lvl8pPr>
            <a:lvl9pPr marL="3209290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4284" y="3944746"/>
            <a:ext cx="5400675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320" indent="0">
              <a:buNone/>
              <a:defRPr sz="1100"/>
            </a:lvl2pPr>
            <a:lvl3pPr marL="802005" indent="0">
              <a:buNone/>
              <a:defRPr sz="900"/>
            </a:lvl3pPr>
            <a:lvl4pPr marL="1203325" indent="0">
              <a:buNone/>
              <a:defRPr sz="800"/>
            </a:lvl4pPr>
            <a:lvl5pPr marL="1604645" indent="0">
              <a:buNone/>
              <a:defRPr sz="800"/>
            </a:lvl5pPr>
            <a:lvl6pPr marL="2005965" indent="0">
              <a:buNone/>
              <a:defRPr sz="800"/>
            </a:lvl6pPr>
            <a:lvl7pPr marL="2406650" indent="0">
              <a:buNone/>
              <a:defRPr sz="800"/>
            </a:lvl7pPr>
            <a:lvl8pPr marL="2807970" indent="0">
              <a:buNone/>
              <a:defRPr sz="800"/>
            </a:lvl8pPr>
            <a:lvl9pPr marL="320929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76073"/>
            <a:ext cx="8101013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0200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990" indent="-30099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2145" indent="-250825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398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30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6625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31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3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950" indent="-200660" algn="l" defTabSz="8020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64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965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65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97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290" algn="l" defTabSz="80200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23732" y="-124"/>
            <a:ext cx="9160798" cy="5040313"/>
          </a:xfrm>
          <a:prstGeom prst="rect">
            <a:avLst/>
          </a:prstGeom>
        </p:spPr>
      </p:pic>
      <p:sp>
        <p:nvSpPr>
          <p:cNvPr id="29" name="椭圆 28"/>
          <p:cNvSpPr/>
          <p:nvPr/>
        </p:nvSpPr>
        <p:spPr>
          <a:xfrm>
            <a:off x="3813010" y="753681"/>
            <a:ext cx="1080120" cy="1080120"/>
          </a:xfrm>
          <a:prstGeom prst="ellipse">
            <a:avLst/>
          </a:prstGeom>
          <a:solidFill>
            <a:schemeClr val="bg1"/>
          </a:solidFill>
          <a:ln w="152400" cmpd="sng">
            <a:solidFill>
              <a:srgbClr val="004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132455" y="2092960"/>
            <a:ext cx="2736850" cy="929005"/>
          </a:xfrm>
          <a:prstGeom prst="rect">
            <a:avLst/>
          </a:prstGeom>
        </p:spPr>
        <p:txBody>
          <a:bodyPr wrap="square" lIns="67376" tIns="33688" rIns="67376" bIns="33688">
            <a:spAutoFit/>
          </a:bodyPr>
          <a:lstStyle/>
          <a:p>
            <a:pPr marL="0" lvl="1" algn="ctr"/>
            <a:r>
              <a:rPr lang="zh-CN" altLang="en-US" sz="2800" dirty="0">
                <a:solidFill>
                  <a:srgbClr val="004A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</a:t>
            </a:r>
            <a:endParaRPr lang="zh-CN" altLang="en-US" sz="2800" dirty="0">
              <a:solidFill>
                <a:srgbClr val="004A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800" dirty="0">
                <a:solidFill>
                  <a:srgbClr val="004A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地理热力图</a:t>
            </a:r>
            <a:r>
              <a:rPr lang="zh-CN" altLang="en-US" sz="2800" dirty="0">
                <a:solidFill>
                  <a:srgbClr val="004A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2800" dirty="0">
              <a:solidFill>
                <a:srgbClr val="004A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28"/>
    </mc:Choice>
    <mc:Fallback>
      <p:transition spd="slow" advTm="23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095" y="1727835"/>
            <a:ext cx="7414260" cy="1155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构建基于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 Flask + React 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的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 Python Web 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可视化框架</a:t>
            </a: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纯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 Python 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开发</a:t>
            </a: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内置支持</a:t>
            </a:r>
            <a:r>
              <a:rPr lang="en-US" altLang="zh-CN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 Plotly 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的各种图表（折线图、柱状图、散点图、地图等），支持交互（缩放、悬停提示、点击事件）</a:t>
            </a: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4" name="对角圆角矩形 3"/>
          <p:cNvSpPr/>
          <p:nvPr/>
        </p:nvSpPr>
        <p:spPr>
          <a:xfrm>
            <a:off x="539553" y="1295764"/>
            <a:ext cx="1425644" cy="336362"/>
          </a:xfrm>
          <a:prstGeom prst="round2DiagRect">
            <a:avLst>
              <a:gd name="adj1" fmla="val 30205"/>
              <a:gd name="adj2" fmla="val 0"/>
            </a:avLst>
          </a:prstGeom>
          <a:solidFill>
            <a:srgbClr val="004A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Dash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38"/>
          <p:cNvSpPr/>
          <p:nvPr/>
        </p:nvSpPr>
        <p:spPr>
          <a:xfrm>
            <a:off x="3420060" y="-243"/>
            <a:ext cx="1728192" cy="1106898"/>
          </a:xfrm>
          <a:prstGeom prst="roundRect">
            <a:avLst/>
          </a:prstGeom>
          <a:solidFill>
            <a:srgbClr val="004A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20170" y="360174"/>
            <a:ext cx="1760720" cy="313055"/>
          </a:xfrm>
          <a:prstGeom prst="rect">
            <a:avLst/>
          </a:prstGeom>
        </p:spPr>
        <p:txBody>
          <a:bodyPr wrap="square" lIns="67376" tIns="33688" rIns="67376" bIns="33688">
            <a:spAutoFit/>
          </a:bodyPr>
          <a:lstStyle/>
          <a:p>
            <a:pPr marL="0" lvl="1"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主要应用的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对角圆角矩形 14"/>
          <p:cNvSpPr/>
          <p:nvPr/>
        </p:nvSpPr>
        <p:spPr>
          <a:xfrm>
            <a:off x="467798" y="3023599"/>
            <a:ext cx="1425644" cy="336362"/>
          </a:xfrm>
          <a:prstGeom prst="round2DiagRect">
            <a:avLst>
              <a:gd name="adj1" fmla="val 30205"/>
              <a:gd name="adj2" fmla="val 0"/>
            </a:avLst>
          </a:prstGeom>
          <a:solidFill>
            <a:srgbClr val="004A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"/>
          <p:cNvSpPr txBox="1"/>
          <p:nvPr/>
        </p:nvSpPr>
        <p:spPr>
          <a:xfrm>
            <a:off x="252095" y="3456305"/>
            <a:ext cx="4695825" cy="1281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根据长春市经纬度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范围，清洗不在长春市的</a:t>
            </a:r>
            <a:r>
              <a:rPr lang="zh-CN" altLang="en-US" sz="1400" dirty="0">
                <a:solidFill>
                  <a:schemeClr val="bg2">
                    <a:lumMod val="10000"/>
                  </a:schemeClr>
                </a:solidFill>
                <a:latin typeface="Calibri" panose="020F0502020204030204"/>
                <a:ea typeface="微软雅黑" panose="020B0503020204020204" pitchFamily="34" charset="-122"/>
              </a:rPr>
              <a:t>二手房</a:t>
            </a: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17"/>
    </mc:Choice>
    <mc:Fallback>
      <p:transition spd="slow" advTm="108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  <p:bldP spid="15" grpId="0" bldLvl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38"/>
          <p:cNvSpPr/>
          <p:nvPr/>
        </p:nvSpPr>
        <p:spPr>
          <a:xfrm>
            <a:off x="3636010" y="0"/>
            <a:ext cx="1961515" cy="738505"/>
          </a:xfrm>
          <a:prstGeom prst="roundRect">
            <a:avLst/>
          </a:prstGeom>
          <a:solidFill>
            <a:srgbClr val="004A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"/>
          <p:cNvSpPr txBox="1"/>
          <p:nvPr/>
        </p:nvSpPr>
        <p:spPr>
          <a:xfrm>
            <a:off x="539750" y="1871980"/>
            <a:ext cx="1781810" cy="1281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solidFill>
                <a:schemeClr val="bg2">
                  <a:lumMod val="10000"/>
                </a:schemeClr>
              </a:solidFill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26485" y="215900"/>
            <a:ext cx="2024380" cy="313055"/>
          </a:xfrm>
          <a:prstGeom prst="rect">
            <a:avLst/>
          </a:prstGeom>
        </p:spPr>
        <p:txBody>
          <a:bodyPr wrap="square" lIns="67376" tIns="33688" rIns="67376" bIns="33688">
            <a:spAutoFit/>
          </a:bodyPr>
          <a:p>
            <a:pPr marL="0" lvl="1"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方便用户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使用的优化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4c29012b078997dcbeebd3cea02a0bd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28955"/>
            <a:ext cx="8745855" cy="4510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17"/>
    </mc:Choice>
    <mc:Fallback>
      <p:transition spd="slow" advTm="108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ags/tag1.xml><?xml version="1.0" encoding="utf-8"?>
<p:tagLst xmlns:p="http://schemas.openxmlformats.org/presentationml/2006/main">
  <p:tag name="ISPRING_PRESENTATION_TITLE" val="2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WPS 演示</Application>
  <PresentationFormat>自定义</PresentationFormat>
  <Paragraphs>18</Paragraphs>
  <Slides>3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Times New Roman</vt:lpstr>
      <vt:lpstr>Arial Unicode MS</vt:lpstr>
      <vt:lpstr>等线</vt:lpstr>
      <vt:lpstr>方正正大黑简体</vt:lpstr>
      <vt:lpstr>黑体</vt:lpstr>
      <vt:lpstr>Calibri</vt:lpstr>
      <vt:lpstr>Agency FB</vt:lpstr>
      <vt:lpstr>仿宋_GB2312</vt:lpstr>
      <vt:lpstr>仿宋</vt:lpstr>
      <vt:lpstr>Adobe 黑体 Std R</vt:lpstr>
      <vt:lpstr>Impact MT Std</vt:lpstr>
      <vt:lpstr>方正兰亭黑简体</vt:lpstr>
      <vt:lpstr>Open Sans</vt:lpstr>
      <vt:lpstr>汉仪雅酷黑简</vt:lpstr>
      <vt:lpstr>Stymie Std Light Italic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</dc:title>
  <dc:creator/>
  <cp:lastModifiedBy>秋的声音</cp:lastModifiedBy>
  <cp:revision>9</cp:revision>
  <dcterms:created xsi:type="dcterms:W3CDTF">2025-08-21T00:42:45Z</dcterms:created>
  <dcterms:modified xsi:type="dcterms:W3CDTF">2025-08-21T02:17:40Z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2052-12.1.0.21915</vt:lpwstr>
  </property>
</Properties>
</file>